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MIDOR-ETHYDCO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6B6D4"/>
                </a:solidFill>
              </a:defRPr>
            </a:pPr>
            <a:r>
              <a:t>Petrochemical Integration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</a:defRPr>
            </a:pPr>
            <a:r>
              <a:t>$196 Million/Year Net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Middle East Oil Refinery (MIDOR) &amp; Egyptian Ethylene and Derivatives Company (ETHYDCO)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500"/>
              </a:spcBef>
              <a:defRPr sz="1600">
                <a:solidFill>
                  <a:srgbClr val="F1F5F9"/>
                </a:solidFill>
              </a:defRPr>
            </a:pPr>
            <a:r>
              <a:t>Strategic integration between MIDOR refinery and ETHYDCO petrochemical complex creates significant value through gas recovery, hydrogen utilization, and methanol production pathways.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377440"/>
            <a:ext cx="2651760" cy="164592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$196M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Total Net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20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Per Year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377440"/>
            <a:ext cx="2651760" cy="164592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256032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EA5E9"/>
                </a:solidFill>
              </a:defRPr>
            </a:pPr>
            <a:r>
              <a:t>$100M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20040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1+2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520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Gas Recovery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377440"/>
            <a:ext cx="2651760" cy="164592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256032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</a:defRPr>
            </a:pPr>
            <a:r>
              <a:t>$96M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20040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3+4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520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Methanol &amp; MTO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Key Benefits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63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✓  Eliminates flare gas waste - converts to valuable 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✓  Provides 49-71% of ETHYDCO's ethane feedstock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✓  Creates new revenue streams from hydrogen and methanol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7607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✓  Reduces environmental impact through emission reduction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EA5E9"/>
                </a:solidFill>
              </a:defRPr>
            </a:pPr>
            <a:r>
              <a:t>MIDOR Refinery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93192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• Flaring valuable gases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• 56,000+ t/y of recoverable gases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• Lost hydrogen, LPG, 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• Environmental concerns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• Wasted economic potential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ETHYDCO Complex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554480"/>
            <a:ext cx="393192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1737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• Needs ethane feedstock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148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• 84-122 kt/y C2 demand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560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• Dependent on imports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971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• Supply chain risks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383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• Cost pressures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46888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22C55E"/>
                </a:solidFill>
              </a:defRPr>
            </a:pPr>
            <a:r>
              <a:t>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14800"/>
            <a:ext cx="8229600" cy="18288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2C55E"/>
                </a:solidFill>
              </a:defRPr>
            </a:pPr>
            <a:r>
              <a:t>The Solution: Strategic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5488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By integrating MIDOR's off-gas streams with ETHYDCO's feedstock needs, we create a symbiotic relationship that transforms waste into value. MIDOR's flare gases become ETHYDCO's feedstock, while recovered hydrogen enables methanol production for gasoline blending.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Integration Phases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097280"/>
            <a:ext cx="5943600" cy="10058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63040" y="1234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LPG &amp; C5+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00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Recover propane, butane, and naphtha from all gas streams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25880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6B6D4"/>
                </a:solidFill>
              </a:defRPr>
            </a:pPr>
            <a:r>
              <a:t>$105M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783080"/>
            <a:ext cx="54864" cy="5943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7200" y="2377439"/>
            <a:ext cx="640080" cy="64008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468879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2377439"/>
            <a:ext cx="5943600" cy="10058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251459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Hydrogen 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880359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Extract hydrogen for refinery use and methanol synthesis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06039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EA5E9"/>
                </a:solidFill>
              </a:defRPr>
            </a:pPr>
            <a:r>
              <a:t>$79M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3063239"/>
            <a:ext cx="54864" cy="5943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365760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74904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3657600"/>
            <a:ext cx="5943600" cy="10058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63040" y="3794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Methanol 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1605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Convert CO/CO2 + H2 to methanol for gasoline blending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$36M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" y="4343400"/>
            <a:ext cx="54864" cy="5943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57200" y="4937759"/>
            <a:ext cx="640080" cy="6400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5029199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4937759"/>
            <a:ext cx="5943600" cy="10058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63040" y="507491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MTO Conversion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440679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Methanol-to-Olefins producing ethylene &amp; propylene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166359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t>$60M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2286000"/>
            <a:ext cx="1371600" cy="1828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79" y="2468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94A3B8"/>
                </a:solidFill>
              </a:defRPr>
            </a:pPr>
            <a:r>
              <a:t>TOTAL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83464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$196M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32918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Net/Year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Annual Product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1F5F9"/>
                </a:solidFill>
              </a:defRPr>
            </a:pPr>
            <a:r>
              <a:t>LPG (C3+C4)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1051560"/>
            <a:ext cx="685800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468880" y="1051560"/>
            <a:ext cx="6275070" cy="3200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35390" y="1005840"/>
            <a:ext cx="914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$91.5M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125,509 t/y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1F5F9"/>
                </a:solidFill>
              </a:defRPr>
            </a:pPr>
            <a:r>
              <a:t>Hydrogen (H2)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737360"/>
            <a:ext cx="667512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468880" y="1737360"/>
            <a:ext cx="5410962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71281" y="1691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$78.9M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39,445 t/y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774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1F5F9"/>
                </a:solidFill>
              </a:defRPr>
            </a:pPr>
            <a:r>
              <a:t>Propylene (MTO)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2423160"/>
            <a:ext cx="667512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468880" y="2423160"/>
            <a:ext cx="3038094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98414" y="23774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$44.3M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974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60,703 t/y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632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1F5F9"/>
                </a:solidFill>
              </a:defRPr>
            </a:pPr>
            <a:r>
              <a:t>Methanol Blend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3108960"/>
            <a:ext cx="667512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468880" y="3108960"/>
            <a:ext cx="2455164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15483" y="30632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$35.8M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832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79,540 t/y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749039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1F5F9"/>
                </a:solidFill>
              </a:defRPr>
            </a:pPr>
            <a:r>
              <a:t>Ethane (C2)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68880" y="3794759"/>
            <a:ext cx="667512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468880" y="3794759"/>
            <a:ext cx="1618488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78808" y="3749039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$23.6M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069079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59,005 t/y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4348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1F5F9"/>
                </a:solidFill>
              </a:defRPr>
            </a:pPr>
            <a:r>
              <a:t>Ethylene (MTO)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68880" y="4480560"/>
            <a:ext cx="667512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468880" y="4480560"/>
            <a:ext cx="1110996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71315" y="44348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$16.2M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7548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40,468 t/y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1206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1F5F9"/>
                </a:solidFill>
              </a:defRPr>
            </a:pPr>
            <a:r>
              <a:t>Naphtha (C5+)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68880" y="5166360"/>
            <a:ext cx="667512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2468880" y="5166360"/>
            <a:ext cx="925830" cy="3200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86150" y="5120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$13.5M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4406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21,733 t/y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760720"/>
            <a:ext cx="8229600" cy="5486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58521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t>Note: Natural Gas makeup cost of $76.2M/year deducted to arrive at net value of $196M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ETHYDCO C2 Feed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MIDOR can supply 59,005 t/y of ethane to ETHYDCO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657600" cy="2926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Minimum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ETHYDCO needs: 83,600 t/y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2C55E"/>
                </a:solidFill>
              </a:defRPr>
            </a:pPr>
            <a:r>
              <a:t>70.6%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463040"/>
            <a:ext cx="3657600" cy="2926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Maximum 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116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ETHYDCO needs: 121,600 t/y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560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59E0B"/>
                </a:solidFill>
              </a:defRPr>
            </a:pPr>
            <a:r>
              <a:t>48.5%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474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Coverage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63440"/>
            <a:ext cx="8229600" cy="13716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80060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Key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6636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1F5F9"/>
                </a:solidFill>
              </a:defRPr>
            </a:pPr>
            <a:r>
              <a:t>MIDOR's integration can provide nearly half to over two-thirds of ETHYDCO's ethane requirements, significantly reducing import dependency and creating a reliable local supply chain worth $23.6M annually.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Hydrogen Balance for Methanol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65176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H2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2C55E"/>
                </a:solidFill>
              </a:defRPr>
            </a:pPr>
            <a:r>
              <a:t>39.4K t/y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From gas recovery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097280"/>
            <a:ext cx="265176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0" y="128016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H2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73736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EA5E9"/>
                </a:solidFill>
              </a:defRPr>
            </a:pPr>
            <a:r>
              <a:t>65.7K t/y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688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For full methanol production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97280"/>
            <a:ext cx="265176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128016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H2 Deficit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73736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F4444"/>
                </a:solidFill>
              </a:defRPr>
            </a:pPr>
            <a:r>
              <a:t>26.2K t/y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4688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External supply needed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3291840"/>
            <a:ext cx="3657600" cy="9144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0" y="3429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H2 Utilization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703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60%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Methanol Allocation (224,070 t/y Total)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Gasoline Blending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4892040"/>
            <a:ext cx="457200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286000" y="4892040"/>
            <a:ext cx="1623060" cy="3200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0" y="4846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35.5% | $35.8M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86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MTO Conversion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5532120"/>
            <a:ext cx="457200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286000" y="5532120"/>
            <a:ext cx="29489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0" y="5486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64.5% | $60.4M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Financial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228600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Category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800" y="1097280"/>
            <a:ext cx="182880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97180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Gross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600" y="1097280"/>
            <a:ext cx="182880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NG Cost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1097280"/>
            <a:ext cx="182880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Net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645920"/>
            <a:ext cx="22860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75564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Phase 1+2: Gas Recovery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1645920"/>
            <a:ext cx="18288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71800" y="175564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$176.1M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1645920"/>
            <a:ext cx="18288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175564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EF4444"/>
                </a:solidFill>
              </a:defRPr>
            </a:pPr>
            <a:r>
              <a:t>-$76.2M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1645920"/>
            <a:ext cx="18288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175564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22C55E"/>
                </a:solidFill>
              </a:defRPr>
            </a:pPr>
            <a:r>
              <a:t>$99.8M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194560"/>
            <a:ext cx="22860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230428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Phase 3+4: Methanol &amp; MTO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2194560"/>
            <a:ext cx="18288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71800" y="230428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$96.2M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2194560"/>
            <a:ext cx="18288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00600" y="230428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$0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2194560"/>
            <a:ext cx="18288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230428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22C55E"/>
                </a:solidFill>
              </a:defRPr>
            </a:pPr>
            <a:r>
              <a:t>$96.2M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2743200"/>
            <a:ext cx="2286000" cy="502920"/>
          </a:xfrm>
          <a:prstGeom prst="rect">
            <a:avLst/>
          </a:prstGeom>
          <a:solidFill>
            <a:srgbClr val="143228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285292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TOTAL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71800" y="2743200"/>
            <a:ext cx="1828800" cy="502920"/>
          </a:xfrm>
          <a:prstGeom prst="rect">
            <a:avLst/>
          </a:prstGeom>
          <a:solidFill>
            <a:srgbClr val="143228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71800" y="285292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$272.3M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2743200"/>
            <a:ext cx="1828800" cy="502920"/>
          </a:xfrm>
          <a:prstGeom prst="rect">
            <a:avLst/>
          </a:prstGeom>
          <a:solidFill>
            <a:srgbClr val="143228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00600" y="285292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-$76.2M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29400" y="2743200"/>
            <a:ext cx="1828800" cy="502920"/>
          </a:xfrm>
          <a:prstGeom prst="rect">
            <a:avLst/>
          </a:prstGeom>
          <a:solidFill>
            <a:srgbClr val="143228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9400" y="285292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$196.1M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Value Composition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023360"/>
            <a:ext cx="3955561" cy="7315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" y="4160520"/>
            <a:ext cx="395556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1+2: $99.8M (51%)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41361" y="4023360"/>
            <a:ext cx="3812875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41361" y="4160520"/>
            <a:ext cx="38128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3+4: $96.2M (49%)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029200"/>
            <a:ext cx="8229600" cy="1188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51663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Investment Considerations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4864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1F5F9"/>
                </a:solidFill>
              </a:defRPr>
            </a:pPr>
            <a:r>
              <a:t>• Net annual value of $196M provides strong basis for capital investment</a:t>
            </a:r>
            <a:br/>
            <a:r>
              <a:t>• Phased implementation reduces initial capital requirements</a:t>
            </a:r>
            <a:br/>
            <a:r>
              <a:t>• Phase 1+2 can be implemented independently with positive returns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Recommendations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548640" cy="5486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05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Feasibility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417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1F5F9"/>
                </a:solidFill>
              </a:defRPr>
            </a:pPr>
            <a:r>
              <a:t>Conduct detailed engineering and economic feasibility study for gas recovery infrastructure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40280"/>
            <a:ext cx="548640" cy="5486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40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Partnership Agreement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51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1F5F9"/>
                </a:solidFill>
              </a:defRPr>
            </a:pPr>
            <a:r>
              <a:t>Establish formal partnership framework between MIDOR and ETHYDCO for feedstock supply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54864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74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Phase 1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886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1F5F9"/>
                </a:solidFill>
              </a:defRPr>
            </a:pPr>
            <a:r>
              <a:t>Begin with LPG and hydrogen recovery as quick wins with proven technology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09160"/>
            <a:ext cx="548640" cy="5486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8006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709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Methanol Unit 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120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1F5F9"/>
                </a:solidFill>
              </a:defRPr>
            </a:pPr>
            <a:r>
              <a:t>Plan methanol synthesis and MTO units based on Phase 1 performance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486400"/>
            <a:ext cx="8229600" cy="914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44068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Suggested Timeline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76072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1F5F9"/>
                </a:solidFill>
              </a:defRPr>
            </a:pPr>
            <a:r>
              <a:t>Phase 1+2: 18-24 months  |  Phase 3+4: 24-36 months after Phase 1+2 completion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8229600" cy="13716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1F5F9"/>
                </a:solidFill>
              </a:defRPr>
            </a:pPr>
            <a:r>
              <a:t>The MIDOR-ETHYDCO integration represents a transformative opportunity to create $196 million in annual value while strengthening Egypt's petrochemical industry and reducing environmental impact.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$196M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Annual Net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32004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38404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Gas Streams Utilized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2004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8404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Valuable 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79" y="32004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60%+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79" y="38404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Feedstock Coverage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4572000"/>
            <a:ext cx="4572000" cy="7315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86000" y="47091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Ready to Transform Waste into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MIDOR-ETHYDCO Integration Analysis | December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725</Words>
  <Application>Microsoft Office PowerPoint</Application>
  <PresentationFormat>On-screen Show (4:3)</PresentationFormat>
  <Paragraphs>157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ahmed Sabri</cp:lastModifiedBy>
  <cp:revision>2</cp:revision>
  <dcterms:created xsi:type="dcterms:W3CDTF">2013-01-27T09:14:16Z</dcterms:created>
  <dcterms:modified xsi:type="dcterms:W3CDTF">2025-12-06T11:09:06Z</dcterms:modified>
  <cp:category/>
</cp:coreProperties>
</file>